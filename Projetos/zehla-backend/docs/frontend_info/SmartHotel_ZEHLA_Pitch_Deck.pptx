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cover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5">
              <a:alpha val="6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317950" y="1155204"/>
            <a:ext cx="50795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498104"/>
            <a:ext cx="8595211" cy="662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30"/>
              </a:lnSpc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ZEHLA SmartHotel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2824082" y="2212925"/>
            <a:ext cx="3495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Aft>
                <a:spcPts val="1600"/>
              </a:spcAft>
              <a:buNone/>
            </a:pPr>
            <a:r>
              <a:rPr lang="en-US" sz="20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Cognitive Hospitality OS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267200" y="2720876"/>
            <a:ext cx="609600" cy="25301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823403" y="3000077"/>
            <a:ext cx="3497193" cy="326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80"/>
              </a:lnSpc>
              <a:spcAft>
                <a:spcPts val="3600"/>
              </a:spcAft>
              <a:buNone/>
            </a:pPr>
            <a:r>
              <a:rPr lang="en-US" sz="1700" dirty="0">
                <a:solidFill>
                  <a:srgbClr val="FFFFFF">
                    <a:alpha val="75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 cerebro digital da sua pousada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3342504" y="3759547"/>
            <a:ext cx="24589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Pitch Deck 2025 · Confidencial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57051"/>
            <a:ext cx="2654196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942826"/>
            <a:ext cx="85344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 realidade da hospitalidade brasileira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1269802"/>
            <a:ext cx="50795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11250" y="1612702"/>
            <a:ext cx="2438400" cy="2420838"/>
          </a:xfrm>
          <a:prstGeom prst="roundRect">
            <a:avLst>
              <a:gd name="adj" fmla="val 524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7643" y="1987302"/>
            <a:ext cx="1565612" cy="668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87%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42751" y="2768352"/>
            <a:ext cx="237539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>
                    <a:alpha val="85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Processos Manuais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3599" y="3028652"/>
            <a:ext cx="2113702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Check-ins, reservas e comunicacoes ainda feitos a mao ou planilhas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52800" y="1612702"/>
            <a:ext cx="2438400" cy="2420838"/>
          </a:xfrm>
          <a:prstGeom prst="roundRect">
            <a:avLst>
              <a:gd name="adj" fmla="val 524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87123" y="1987302"/>
            <a:ext cx="1369755" cy="668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4h+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384301" y="2768352"/>
            <a:ext cx="237539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>
                    <a:alpha val="85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Tempo de Resposta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15149" y="3028652"/>
            <a:ext cx="2113702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Media para responder solicitacoes de hospedes via WhatsApp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94350" y="1612702"/>
            <a:ext cx="2438400" cy="2420838"/>
          </a:xfrm>
          <a:prstGeom prst="roundRect">
            <a:avLst>
              <a:gd name="adj" fmla="val 524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430744" y="1987302"/>
            <a:ext cx="1565612" cy="668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23%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025851" y="2768352"/>
            <a:ext cx="2375398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>
                    <a:alpha val="85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Perda de Receita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56700" y="3028652"/>
            <a:ext cx="2113702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>
                    <a:alpha val="5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Vazamento de 15-23% por precificacao estatica e canais desconectados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5550"/>
            <a:ext cx="3715756" cy="390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 Solucao ZEHLA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600" y="777776"/>
            <a:ext cx="85344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Plataforma inteligente de gestao hospitalaria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1079302"/>
            <a:ext cx="50795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269802"/>
            <a:ext cx="7924800" cy="678061"/>
          </a:xfrm>
          <a:prstGeom prst="roundRect">
            <a:avLst>
              <a:gd name="adj" fmla="val 1498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275" y="140627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32259" y="1472952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54026" y="1406277"/>
            <a:ext cx="2605632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Agentes de IA Autonomos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54026" y="1634877"/>
            <a:ext cx="61288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Atendimento 24/7 via WhatsApp, chatbots inteligentes e automacao de reservas com NLP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600" y="2074813"/>
            <a:ext cx="7924800" cy="678061"/>
          </a:xfrm>
          <a:prstGeom prst="roundRect">
            <a:avLst>
              <a:gd name="adj" fmla="val 1498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21128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2259" y="2277963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54026" y="2211288"/>
            <a:ext cx="222629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Precificacao Dinamica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54026" y="2439888"/>
            <a:ext cx="6188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Machine Learning ajusta precos em tempo real por demanda, sazonalidade e concorrencia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2879824"/>
            <a:ext cx="7924800" cy="678061"/>
          </a:xfrm>
          <a:prstGeom prst="roundRect">
            <a:avLst>
              <a:gd name="adj" fmla="val 1498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01630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32259" y="3082975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54026" y="3016300"/>
            <a:ext cx="228899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WhatsApp + Multi-PMS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54026" y="3244900"/>
            <a:ext cx="59345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Conecta com PMS (Hotelier, Omnibees, STAY) e centraliza comunicacao no WhatsApp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3684836"/>
            <a:ext cx="7924800" cy="678061"/>
          </a:xfrm>
          <a:prstGeom prst="roundRect">
            <a:avLst>
              <a:gd name="adj" fmla="val 1498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382131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932259" y="3887986"/>
            <a:ext cx="117068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54026" y="3821311"/>
            <a:ext cx="1669944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Multi-Provider AI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54026" y="4049911"/>
            <a:ext cx="48132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Gemini, GROQ, HuggingFace e ZAI SDK com circuit breaker e failover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2764991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Como Funciona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2000" y="1767929"/>
            <a:ext cx="7620000" cy="38100"/>
          </a:xfrm>
          <a:prstGeom prst="rect">
            <a:avLst/>
          </a:prstGeom>
          <a:solidFill>
            <a:srgbClr val="DFE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00200" y="2009180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63762" y="2186880"/>
            <a:ext cx="389817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39855" y="2796480"/>
            <a:ext cx="1130290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Cadastre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850" y="3136702"/>
            <a:ext cx="2400300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Wizard de 6 passos para configurar sua pousada em minutos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67200" y="2009180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30762" y="2186880"/>
            <a:ext cx="389817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50968" y="2796480"/>
            <a:ext cx="1042065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Conecte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71850" y="3136702"/>
            <a:ext cx="2400300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Integre WhatsApp, PMS e canais de venda com um clique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34200" y="2009180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97762" y="2186880"/>
            <a:ext cx="389817" cy="274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60070" y="2796480"/>
            <a:ext cx="1357711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spcBef>
                <a:spcPts val="14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Automatize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8850" y="3136702"/>
            <a:ext cx="2400300" cy="422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 IA trabalha 24/7: reservas, atendimento e precificacao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54151" y="3959572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457152" y="3934123"/>
            <a:ext cx="13235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Setup em 5 min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29348" y="3959572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32349" y="3934123"/>
            <a:ext cx="136261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Trial gratis 7 dias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91907" y="3959572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94908" y="3934123"/>
            <a:ext cx="140985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Suporte dedicado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450056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Produto — Lado do Cliente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439912"/>
            <a:ext cx="2539901" cy="1787723"/>
          </a:xfrm>
          <a:prstGeom prst="roundRect">
            <a:avLst>
              <a:gd name="adj" fmla="val 71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3412" y="1439912"/>
            <a:ext cx="0" cy="1787723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1126" y="1693813"/>
            <a:ext cx="2460748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Landing Page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1126" y="2059335"/>
            <a:ext cx="208369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Pagina de captura com hero section, precos e CTA otimizados para conversao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52651" y="1439912"/>
            <a:ext cx="2539901" cy="1787723"/>
          </a:xfrm>
          <a:prstGeom prst="roundRect">
            <a:avLst>
              <a:gd name="adj" fmla="val 71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76464" y="1439912"/>
            <a:ext cx="0" cy="1787723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4177" y="1693813"/>
            <a:ext cx="2341680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Onboarding Wizard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4177" y="2059335"/>
            <a:ext cx="208369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Fluxo de 6 etapas: dados, acomodacoes, servicos, integracoes, IA e pagamento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5702" y="1439912"/>
            <a:ext cx="2539901" cy="1787723"/>
          </a:xfrm>
          <a:prstGeom prst="roundRect">
            <a:avLst>
              <a:gd name="adj" fmla="val 71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19515" y="1439912"/>
            <a:ext cx="0" cy="1787723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7228" y="1693813"/>
            <a:ext cx="2341680" cy="285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Dashboard (8 Tabs)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97228" y="2059335"/>
            <a:ext cx="208369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Overview, Reservas, Acomodacoes, Financeiro, Servicos, Avaliacoes, IA, Config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1101" y="346248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63501" y="3430786"/>
            <a:ext cx="1419338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Responsive Design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67830" y="346248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20230" y="3430786"/>
            <a:ext cx="1584067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Auth com NextAuth.js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64161" y="346248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916561" y="3430786"/>
            <a:ext cx="2027676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Prisma ORM + PostgreSQL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36431" y="3462486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888831" y="3430786"/>
            <a:ext cx="1785324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UI Framework shadcn/ui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9600" y="3773686"/>
            <a:ext cx="7924800" cy="641003"/>
          </a:xfrm>
          <a:prstGeom prst="roundRect">
            <a:avLst>
              <a:gd name="adj" fmla="val 15850"/>
            </a:avLst>
          </a:prstGeom>
          <a:solidFill>
            <a:srgbClr val="FFFFFF"/>
          </a:solidFill>
          <a:ln w="19050">
            <a:solidFill>
              <a:srgbClr val="DFE8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82551" y="3970437"/>
            <a:ext cx="8116788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Stack Tecnico:</a:t>
            </a:r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 Next.js 15 · TypeScript · Tailwind CSS · Prisma · NextAuth · Resend · Zod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06301"/>
            <a:ext cx="6099535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Produto — Lado da Empresa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892076"/>
            <a:ext cx="8534400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ZEHLA Control Center e infraestrutura de IA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1219051"/>
            <a:ext cx="50795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1460302"/>
            <a:ext cx="2539901" cy="2840682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73026" y="1723727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92820" y="1833265"/>
            <a:ext cx="54289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ZCC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3026" y="2333327"/>
            <a:ext cx="2496181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3026" y="2665958"/>
            <a:ext cx="211370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10 abas admin: Analytics, Agentes, Fleet ML, Clientes, Faturamento, Suporte, Monitoramento, Configuracoes, Logs, Seguranca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52651" y="1460302"/>
            <a:ext cx="2539901" cy="2840682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16077" y="1723727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43027" y="1833265"/>
            <a:ext cx="26428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16077" y="2333327"/>
            <a:ext cx="237539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 Management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6077" y="2665958"/>
            <a:ext cx="211370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Cricao, deploy e monitoramento de agentes de IA. Fleet ML com scaling automatico e rollback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5702" y="1460302"/>
            <a:ext cx="2539901" cy="2840682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359128" y="1723727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1B2A4A"/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40984" y="1833265"/>
            <a:ext cx="3813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9128" y="2333327"/>
            <a:ext cx="2375398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Fleet ML Pipeline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59128" y="2665958"/>
            <a:ext cx="211370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Treinamento continuo, A/B testing, versionamento de modelos e monitoramento de drift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1901" cy="51435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1430387"/>
            <a:ext cx="3086731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spcAft>
                <a:spcPts val="1000"/>
              </a:spcAft>
              <a:buNone/>
            </a:pPr>
            <a:r>
              <a:rPr lang="en-US" sz="1100" spc="200" kern="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06301" y="1697087"/>
            <a:ext cx="3236089" cy="567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Hub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06301" y="2324249"/>
            <a:ext cx="2937373" cy="30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800"/>
              </a:spcBef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Multi-Provider AI Engine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6301" y="2811810"/>
            <a:ext cx="406301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6301" y="3053060"/>
            <a:ext cx="2613764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6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17 arquivos de infraestrutura dedicados a orquestracao de 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8202" y="1003399"/>
            <a:ext cx="50750" cy="50795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85902" y="952649"/>
            <a:ext cx="2422639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Multi-Provider Routing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85902" y="1200299"/>
            <a:ext cx="4989374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Gemini 2.5 Pro, GROQ (Llama 3.3), HuggingFace (BGE embeddings), ZAI SDK com roteamento inteligente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08202" y="1857375"/>
            <a:ext cx="50750" cy="50795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85902" y="1806625"/>
            <a:ext cx="244880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Circuit Breaker Pattern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85902" y="2054275"/>
            <a:ext cx="4918583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Failover automatico entre providers. Latencia max de 3s com fallback graceful degradation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8202" y="2711351"/>
            <a:ext cx="50750" cy="50795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885902" y="2660600"/>
            <a:ext cx="2104596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RAG + Embeddings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85902" y="2908250"/>
            <a:ext cx="5043443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Vector store com embeddings semanticos para recuperacao contextual de informacoes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08202" y="3565327"/>
            <a:ext cx="50750" cy="507950"/>
          </a:xfrm>
          <a:prstGeom prst="roundRect">
            <a:avLst>
              <a:gd name="adj" fmla="val 5004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85902" y="3514576"/>
            <a:ext cx="2810577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Prompt Engineering 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85902" y="3762226"/>
            <a:ext cx="4927803" cy="42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Templates versionados, A/B testing de prompts e otimizacao continua de performance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382863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Guardian Agent v2.1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550938"/>
            <a:ext cx="3733748" cy="641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spcAft>
                <a:spcPts val="1600"/>
              </a:spcAft>
              <a:buNone/>
            </a:pPr>
            <a:r>
              <a:rPr lang="en-US" sz="18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Camada de Seguranca Inteligente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2348210"/>
            <a:ext cx="3555950" cy="207278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18 capacidades de protecao ativa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Deteccao de ameacas em tempo real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ZDR (ZEHLA Data Privacy) compliance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Circuit breaker para endpoints criticos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HITL (Human-in-the-Loop) validation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Rate limiting adaptativo por cliente</a:t>
            </a:r>
            <a:endParaRPr lang="en-US" sz="1400" dirty="0"/>
          </a:p>
          <a:p>
            <a:pPr algn="l" marL="127000" indent="-1270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Auditoria completa de acoes da 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70350" y="1451818"/>
            <a:ext cx="3301901" cy="2950815"/>
          </a:xfrm>
          <a:prstGeom prst="roundRect">
            <a:avLst>
              <a:gd name="adj" fmla="val 4304"/>
            </a:avLst>
          </a:prstGeom>
          <a:solidFill>
            <a:srgbClr val="F0F4F8"/>
          </a:solidFill>
          <a:ln w="19050">
            <a:solidFill>
              <a:srgbClr val="DFE8F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94200" y="1775668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28146" y="1874044"/>
            <a:ext cx="17974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27452" y="1793379"/>
            <a:ext cx="1457367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Guardian v2.1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27452" y="2024509"/>
            <a:ext cx="1457367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Security Layer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94200" y="2806154"/>
            <a:ext cx="2654201" cy="0"/>
          </a:xfrm>
          <a:prstGeom prst="line">
            <a:avLst/>
          </a:prstGeom>
          <a:noFill/>
          <a:ln w="9525">
            <a:solidFill>
              <a:srgbClr val="DF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4200" y="2486620"/>
            <a:ext cx="1749498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Ameacas Bloqueadas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16204" y="2486620"/>
            <a:ext cx="596432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99.7%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94200" y="3231952"/>
            <a:ext cx="2654201" cy="0"/>
          </a:xfrm>
          <a:prstGeom prst="line">
            <a:avLst/>
          </a:prstGeom>
          <a:noFill/>
          <a:ln w="9525">
            <a:solidFill>
              <a:srgbClr val="DFE8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4200" y="2912418"/>
            <a:ext cx="1599521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Tempo de Resposta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27205" y="2912418"/>
            <a:ext cx="677555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&lt; 50ms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94200" y="3657749"/>
            <a:ext cx="2654201" cy="0"/>
          </a:xfrm>
          <a:prstGeom prst="line">
            <a:avLst/>
          </a:prstGeom>
          <a:noFill/>
          <a:ln w="9525">
            <a:solidFill>
              <a:srgbClr val="DFE8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4200" y="3338215"/>
            <a:ext cx="1008364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Uptime SLA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31521" y="3338215"/>
            <a:ext cx="713295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99.95%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94200" y="3764012"/>
            <a:ext cx="997845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36370" y="3764012"/>
            <a:ext cx="1254919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LGPD + SOC2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39532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Modelo de Negocios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028700"/>
            <a:ext cx="7924800" cy="519261"/>
          </a:xfrm>
          <a:prstGeom prst="roundRect">
            <a:avLst>
              <a:gd name="adj" fmla="val 19566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12750" y="1181100"/>
            <a:ext cx="2311271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Plano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33451" y="1181100"/>
            <a:ext cx="1981200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Mensal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24159" y="1181100"/>
            <a:ext cx="1650936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Pousadas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84602" y="1181100"/>
            <a:ext cx="3759398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Destaque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" y="1547961"/>
            <a:ext cx="7924800" cy="75158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529637" y="1547961"/>
            <a:ext cx="0" cy="751582"/>
          </a:xfrm>
          <a:prstGeom prst="line">
            <a:avLst/>
          </a:prstGeom>
          <a:noFill/>
          <a:ln w="9525">
            <a:solidFill>
              <a:srgbClr val="DF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363" y="1547961"/>
            <a:ext cx="0" cy="751582"/>
          </a:xfrm>
          <a:prstGeom prst="line">
            <a:avLst/>
          </a:prstGeom>
          <a:noFill/>
          <a:ln w="9525">
            <a:solidFill>
              <a:srgbClr val="DFE8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275" y="1725662"/>
            <a:ext cx="2080144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Starter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42976" y="1725662"/>
            <a:ext cx="19812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R$ 297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16230" y="1725662"/>
            <a:ext cx="1485842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Ate 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127" y="1725662"/>
            <a:ext cx="3073978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 Agente IA, WhatsApp basico, dashboard padrao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9600" y="2299543"/>
            <a:ext cx="7924800" cy="751582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8529637" y="2299543"/>
            <a:ext cx="0" cy="751582"/>
          </a:xfrm>
          <a:prstGeom prst="line">
            <a:avLst/>
          </a:prstGeom>
          <a:noFill/>
          <a:ln w="9525">
            <a:solidFill>
              <a:srgbClr val="DF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8650" y="2299543"/>
            <a:ext cx="0" cy="75158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850" y="2477244"/>
            <a:ext cx="1866796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Professional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71551" y="2477244"/>
            <a:ext cx="19812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R$ 597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44805" y="2477244"/>
            <a:ext cx="1485842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Ate 20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22702" y="2477244"/>
            <a:ext cx="3043974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 Agentes IA, precificacao dinamica, analytics avancado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9600" y="3051125"/>
            <a:ext cx="7924800" cy="75158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529637" y="3051125"/>
            <a:ext cx="0" cy="751582"/>
          </a:xfrm>
          <a:prstGeom prst="line">
            <a:avLst/>
          </a:prstGeom>
          <a:noFill/>
          <a:ln w="9525">
            <a:solidFill>
              <a:srgbClr val="DFE8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363" y="3051125"/>
            <a:ext cx="0" cy="751582"/>
          </a:xfrm>
          <a:prstGeom prst="line">
            <a:avLst/>
          </a:prstGeom>
          <a:noFill/>
          <a:ln w="9525">
            <a:solidFill>
              <a:srgbClr val="DF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275" y="3228826"/>
            <a:ext cx="1866796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42976" y="3228826"/>
            <a:ext cx="19812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R$ 1.497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016230" y="3228826"/>
            <a:ext cx="1485842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Ilimitado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127" y="3228826"/>
            <a:ext cx="3073978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Agentes ilimitados, Fleet ML, SLA dedicado, API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9600" y="3802707"/>
            <a:ext cx="7924800" cy="451991"/>
          </a:xfrm>
          <a:prstGeom prst="rect">
            <a:avLst/>
          </a:prstGeom>
          <a:solidFill>
            <a:srgbClr val="DFE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12750" y="3929658"/>
            <a:ext cx="2097923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Todos os planos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90651" y="3929658"/>
            <a:ext cx="6314658" cy="213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7 dias de trial gratis · Sem fidelidade · Suporte via WhatsApp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644848" y="4457849"/>
            <a:ext cx="3103215" cy="368052"/>
          </a:xfrm>
          <a:prstGeom prst="roundRect">
            <a:avLst>
              <a:gd name="adj" fmla="val 20704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898749" y="4559350"/>
            <a:ext cx="3062588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ARR Projetado (Ano 2): R$ 14,4M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52864" y="4457849"/>
            <a:ext cx="2446139" cy="368052"/>
          </a:xfrm>
          <a:prstGeom prst="roundRect">
            <a:avLst>
              <a:gd name="adj" fmla="val 20704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306764" y="4559350"/>
            <a:ext cx="2287238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Margem Bruta Alvo: 82%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486314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Mercado — TAM / SAM / SOM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752600" y="1833414"/>
            <a:ext cx="1777901" cy="558701"/>
          </a:xfrm>
          <a:prstGeom prst="roundRect">
            <a:avLst>
              <a:gd name="adj" fmla="val 13639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034629" y="2017514"/>
            <a:ext cx="15049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TAM: R$ 2,4B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2468314"/>
            <a:ext cx="2539901" cy="558701"/>
          </a:xfrm>
          <a:prstGeom prst="roundRect">
            <a:avLst>
              <a:gd name="adj" fmla="val 13639"/>
            </a:avLst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85218" y="2652415"/>
            <a:ext cx="162770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SAM: R$ 480M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0600" y="3103215"/>
            <a:ext cx="3301901" cy="558701"/>
          </a:xfrm>
          <a:prstGeom prst="roundRect">
            <a:avLst>
              <a:gd name="adj" fmla="val 13639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32843" y="3287316"/>
            <a:ext cx="150959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SOM: R$ 24M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0935" y="3839617"/>
            <a:ext cx="3901232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800"/>
              </a:spcBef>
              <a:buNone/>
            </a:pPr>
            <a:r>
              <a:rPr lang="en-US" sz="11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Mercado de hospitalidade brasileira que utiliza tecnologia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98852" y="1312366"/>
            <a:ext cx="0" cy="70842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95602" y="1312366"/>
            <a:ext cx="3562677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50K+ Pousadas Potenciais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95602" y="1594247"/>
            <a:ext cx="3400738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Pousadas e hoteis boutique no Brasil com 5-30 quartos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98852" y="2223939"/>
            <a:ext cx="0" cy="708422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95602" y="2223939"/>
            <a:ext cx="3562677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CAGR de 12% ao Ano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95602" y="2505819"/>
            <a:ext cx="3400738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Crescimento do mercado de hotel tech na America Latina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98852" y="3135511"/>
            <a:ext cx="0" cy="708422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95602" y="3135511"/>
            <a:ext cx="3562677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Digitalizacao Acelerada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95602" y="3417391"/>
            <a:ext cx="3400738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Pos-pandemia impulsionou adocao de tecnologia no setor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98852" y="4047083"/>
            <a:ext cx="0" cy="495151"/>
          </a:xfrm>
          <a:prstGeom prst="line">
            <a:avLst/>
          </a:prstGeom>
          <a:noFill/>
          <a:ln w="38100">
            <a:solidFill>
              <a:srgbClr val="B0C4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95602" y="4047083"/>
            <a:ext cx="3562677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Poucos Concorrentes Diretos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95602" y="4328964"/>
            <a:ext cx="3562677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Nenhum com IA nativa integrada ao WhatsApp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148863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Traction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965002"/>
            <a:ext cx="2438400" cy="1820466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7381" y="1218902"/>
            <a:ext cx="2702838" cy="548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9747" y="1828354"/>
            <a:ext cx="2278106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Pousadas Cadastradas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9747" y="2160836"/>
            <a:ext cx="2278106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spcBef>
                <a:spcPts val="800"/>
              </a:spcBef>
              <a:buNone/>
            </a:pPr>
            <a:r>
              <a:rPr lang="en-US" sz="11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+12% crescimento mensal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51150" y="965002"/>
            <a:ext cx="2438400" cy="1820466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18931" y="1218902"/>
            <a:ext cx="2702838" cy="548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23%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56786" y="1828354"/>
            <a:ext cx="2027128" cy="49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Aumento Medio de Receita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1297" y="2391817"/>
            <a:ext cx="2278106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spcBef>
                <a:spcPts val="800"/>
              </a:spcBef>
              <a:buNone/>
            </a:pPr>
            <a:r>
              <a:rPr lang="en-US" sz="11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Nos primeiros 90 dias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92701" y="965002"/>
            <a:ext cx="2438400" cy="1820466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760482" y="1218902"/>
            <a:ext cx="2702838" cy="548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40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4.8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972848" y="1828354"/>
            <a:ext cx="2278106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Satisfacao dos Clientes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72848" y="2160836"/>
            <a:ext cx="2278106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spcBef>
                <a:spcPts val="800"/>
              </a:spcBef>
              <a:buNone/>
            </a:pPr>
            <a:r>
              <a:rPr lang="en-US" sz="11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NPS de 78 pontos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2988618"/>
            <a:ext cx="1777901" cy="957263"/>
          </a:xfrm>
          <a:prstGeom prst="roundRect">
            <a:avLst>
              <a:gd name="adj" fmla="val 106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2801" y="3166318"/>
            <a:ext cx="1991499" cy="38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1.2K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6601" y="3572619"/>
            <a:ext cx="1763899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Msgs IA / Dia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90651" y="2988618"/>
            <a:ext cx="1777901" cy="957263"/>
          </a:xfrm>
          <a:prstGeom prst="roundRect">
            <a:avLst>
              <a:gd name="adj" fmla="val 106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483852" y="3166318"/>
            <a:ext cx="1991499" cy="38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94%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2597652" y="3572619"/>
            <a:ext cx="1763899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Retencao MRR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1702" y="2988618"/>
            <a:ext cx="1777901" cy="957263"/>
          </a:xfrm>
          <a:prstGeom prst="roundRect">
            <a:avLst>
              <a:gd name="adj" fmla="val 106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464903" y="3166318"/>
            <a:ext cx="1991499" cy="38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3.2x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536028" y="3572619"/>
            <a:ext cx="1849249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52754" y="2988618"/>
            <a:ext cx="1777901" cy="957263"/>
          </a:xfrm>
          <a:prstGeom prst="roundRect">
            <a:avLst>
              <a:gd name="adj" fmla="val 106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445954" y="3166318"/>
            <a:ext cx="1991499" cy="38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18s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559754" y="3572619"/>
            <a:ext cx="1763899" cy="211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spcBef>
                <a:spcPts val="400"/>
              </a:spcBef>
              <a:buNone/>
            </a:pPr>
            <a:r>
              <a:rPr lang="en-US" sz="11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Tempo Resp. 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0" y="4149030"/>
            <a:ext cx="8636000" cy="196096"/>
          </a:xfrm>
          <a:prstGeom prst="rect">
            <a:avLst/>
          </a:prstGeom>
          <a:noFill/>
          <a:ln/>
        </p:spPr>
        <p:txBody>
          <a:bodyPr wrap="square" lIns="609600" tIns="0" rIns="609600" bIns="0" rtlCol="0" anchor="t"/>
          <a:lstStyle/>
          <a:p>
            <a:pPr algn="ctr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Dados simulados para fins de pitch. Metricas reais disponiveis em due diligence.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94990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2920"/>
            <a:ext cx="1743706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750" y="394990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39505" y="580727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15" y="1080790"/>
            <a:ext cx="13206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HOJE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9402" y="394990"/>
            <a:ext cx="6654998" cy="882402"/>
          </a:xfrm>
          <a:prstGeom prst="roundRect">
            <a:avLst>
              <a:gd name="adj" fmla="val 1151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903214" y="394990"/>
            <a:ext cx="0" cy="882402"/>
          </a:xfrm>
          <a:prstGeom prst="line">
            <a:avLst/>
          </a:prstGeom>
          <a:noFill/>
          <a:ln w="47625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55627" y="572691"/>
            <a:ext cx="6765191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Phase 1 — Core Platform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55627" y="871091"/>
            <a:ext cx="676519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Dashboard cliente, ZCC, Agentes IA, WhatsApp, precificacao dinamica, Guardian Agent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750" y="1531293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039505" y="1717030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15" y="2217093"/>
            <a:ext cx="1320671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Q3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9402" y="1531293"/>
            <a:ext cx="6654998" cy="1111002"/>
          </a:xfrm>
          <a:prstGeom prst="roundRect">
            <a:avLst>
              <a:gd name="adj" fmla="val 914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903214" y="1531293"/>
            <a:ext cx="0" cy="1111002"/>
          </a:xfrm>
          <a:prstGeom prst="line">
            <a:avLst/>
          </a:prstGeom>
          <a:noFill/>
          <a:ln w="47625">
            <a:solidFill>
              <a:srgbClr val="3D5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55627" y="1708993"/>
            <a:ext cx="6765191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Phase 2 — Mobile + IoT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55627" y="2007394"/>
            <a:ext cx="64576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App mobile para hospedes, IoT (smart locks, termostatos), checkout automatico, voice assistant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750" y="2896195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6B8A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39505" y="3081933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6579" y="3581995"/>
            <a:ext cx="1401943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2027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79402" y="2896195"/>
            <a:ext cx="6654998" cy="1111002"/>
          </a:xfrm>
          <a:prstGeom prst="roundRect">
            <a:avLst>
              <a:gd name="adj" fmla="val 9145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903214" y="2896195"/>
            <a:ext cx="0" cy="1111002"/>
          </a:xfrm>
          <a:prstGeom prst="line">
            <a:avLst/>
          </a:prstGeom>
          <a:noFill/>
          <a:ln w="47625">
            <a:solidFill>
              <a:srgbClr val="6B8A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55627" y="3073896"/>
            <a:ext cx="6765191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Phase 3 — Multi-Property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155627" y="3372296"/>
            <a:ext cx="645768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Gestao multi-propriedades, redes de hoteis, consolidacao financeira, marketplace de servicos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750" y="4261098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B0C4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39505" y="4446836"/>
            <a:ext cx="15609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16579" y="4946898"/>
            <a:ext cx="1401943" cy="196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30"/>
              </a:lnSpc>
              <a:spcBef>
                <a:spcPts val="600"/>
              </a:spcBef>
              <a:buNone/>
            </a:pPr>
            <a:r>
              <a:rPr lang="en-US" sz="1100" b="1" dirty="0">
                <a:solidFill>
                  <a:srgbClr val="B0C4DE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2028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79402" y="4261098"/>
            <a:ext cx="6654998" cy="882402"/>
          </a:xfrm>
          <a:prstGeom prst="roundRect">
            <a:avLst>
              <a:gd name="adj" fmla="val 1151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1903214" y="4261098"/>
            <a:ext cx="0" cy="882402"/>
          </a:xfrm>
          <a:prstGeom prst="line">
            <a:avLst/>
          </a:prstGeom>
          <a:noFill/>
          <a:ln w="47625">
            <a:solidFill>
              <a:srgbClr val="B0C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55627" y="4438799"/>
            <a:ext cx="6765191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Phase 4 — Expansao LATAM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155627" y="4737199"/>
            <a:ext cx="676519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Entrada no Mexico, Colombia e Argentina. i18n, moedas locais e parcerias regionais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127576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Equipe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06747" y="1646039"/>
            <a:ext cx="1930301" cy="256237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67098" y="1899940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49782" y="2071390"/>
            <a:ext cx="644083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CEO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7018" y="2661940"/>
            <a:ext cx="1889760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Founder &amp; CEO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7018" y="2918371"/>
            <a:ext cx="188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[Placeholder]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798" y="3172271"/>
            <a:ext cx="1600200" cy="84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10+ anos em hospitalidade e tech. Ex-Battle / CVC. MBA FGV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40198" y="1646039"/>
            <a:ext cx="1930301" cy="256237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00549" y="1899940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94261" y="2071390"/>
            <a:ext cx="622027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CTO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14749" y="2661940"/>
            <a:ext cx="1981200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Tech Lead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60469" y="2918371"/>
            <a:ext cx="188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[Placeholder]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05249" y="3172271"/>
            <a:ext cx="1600200" cy="844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Full-stack senior. Expert em Next.js, AI/ML e arquitetura de microservicos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73650" y="1743819"/>
            <a:ext cx="1930301" cy="236681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34000" y="1997720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90210" y="2169170"/>
            <a:ext cx="29718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93920" y="2759720"/>
            <a:ext cx="1889760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AI/ML Lead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93920" y="3016151"/>
            <a:ext cx="188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[Placeholder]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38700" y="3270052"/>
            <a:ext cx="1600200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PhD em ML. Ex-Google Brain. Especialista em NLP e LLMs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07101" y="1743819"/>
            <a:ext cx="1930301" cy="236681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67451" y="1997720"/>
            <a:ext cx="609600" cy="609600"/>
          </a:xfrm>
          <a:prstGeom prst="roundRect">
            <a:avLst>
              <a:gd name="adj" fmla="val 150000"/>
            </a:avLst>
          </a:prstGeom>
          <a:solidFill>
            <a:srgbClr val="6B8A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441987" y="2169170"/>
            <a:ext cx="66052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CRO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27371" y="2759720"/>
            <a:ext cx="1889760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Head of Sales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27371" y="3016151"/>
            <a:ext cx="1889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[Placeholder]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72151" y="3270052"/>
            <a:ext cx="1600200" cy="633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8 anos em SaaS B2B. Ex-Booking.com. Rede forte no setor hoteleiro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220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490872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Investimento — Use of Funds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600" y="1983284"/>
            <a:ext cx="4419600" cy="231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Rodada Seed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2248495"/>
            <a:ext cx="4762500" cy="493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R$ 2.000.000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09600" y="2781895"/>
            <a:ext cx="419100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6B8AB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Runway de 18-24 meses para atingir break-even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3249067"/>
            <a:ext cx="1524000" cy="3555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31850" y="3356967"/>
            <a:ext cx="38570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40%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33600" y="3249067"/>
            <a:ext cx="1143000" cy="355550"/>
          </a:xfrm>
          <a:prstGeom prst="rect">
            <a:avLst/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565350" y="3356967"/>
            <a:ext cx="38570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30%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76600" y="3249067"/>
            <a:ext cx="762000" cy="35555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7850" y="3356967"/>
            <a:ext cx="38570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20%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38600" y="3249067"/>
            <a:ext cx="381000" cy="355550"/>
          </a:xfrm>
          <a:prstGeom prst="rect">
            <a:avLst/>
          </a:prstGeom>
          <a:solidFill>
            <a:srgbClr val="B0C4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89350" y="3356967"/>
            <a:ext cx="385709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10%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600" y="3750618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1851" y="3731568"/>
            <a:ext cx="635764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Produto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03300" y="3750618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3D5A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555552" y="3731568"/>
            <a:ext cx="605582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Vendas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73784" y="3750618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326035" y="3731568"/>
            <a:ext cx="565145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Equipe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13162" y="3750618"/>
            <a:ext cx="101501" cy="101501"/>
          </a:xfrm>
          <a:prstGeom prst="roundRect">
            <a:avLst>
              <a:gd name="adj" fmla="val 25024"/>
            </a:avLst>
          </a:prstGeom>
          <a:solidFill>
            <a:srgbClr val="B0C4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065413" y="3731568"/>
            <a:ext cx="887864" cy="15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Operacoes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43450" y="1439317"/>
            <a:ext cx="0" cy="682972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40201" y="1439317"/>
            <a:ext cx="3394710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Produto — R$ 800K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40201" y="1695748"/>
            <a:ext cx="3240405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AI Hub v2, Fleet ML, app mobile, IoT integrations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43450" y="2274689"/>
            <a:ext cx="0" cy="682972"/>
          </a:xfrm>
          <a:prstGeom prst="line">
            <a:avLst/>
          </a:prstGeom>
          <a:noFill/>
          <a:ln w="38100">
            <a:solidFill>
              <a:srgbClr val="3D5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40201" y="2274689"/>
            <a:ext cx="3394710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Sales &amp; Marketing — R$ 600K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40201" y="2531120"/>
            <a:ext cx="3240405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Equipe comercial, marketing digital, eventos, parcerias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43450" y="3110061"/>
            <a:ext cx="0" cy="682972"/>
          </a:xfrm>
          <a:prstGeom prst="line">
            <a:avLst/>
          </a:prstGeom>
          <a:noFill/>
          <a:ln w="38100">
            <a:solidFill>
              <a:srgbClr val="1B2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40201" y="3110061"/>
            <a:ext cx="3579876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Time — R$ 400K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940201" y="3366492"/>
            <a:ext cx="3240405" cy="460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Contratacoes engenharia e produto, treinamento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43450" y="3945434"/>
            <a:ext cx="0" cy="469702"/>
          </a:xfrm>
          <a:prstGeom prst="line">
            <a:avLst/>
          </a:prstGeom>
          <a:noFill/>
          <a:ln w="38100">
            <a:solidFill>
              <a:srgbClr val="B0C4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40201" y="3945434"/>
            <a:ext cx="3394710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Operacoes — R$ 200K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40201" y="4201864"/>
            <a:ext cx="3394710" cy="23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5A80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Infra cloud, legal, contabilidade, escritorio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workspace/closing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525">
              <a:alpha val="6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317950" y="1044327"/>
            <a:ext cx="507950" cy="381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274320" y="1387227"/>
            <a:ext cx="8595211" cy="59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70"/>
              </a:lnSpc>
              <a:spcAft>
                <a:spcPts val="8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ZEHLA SmartHotel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986848" y="2043708"/>
            <a:ext cx="5170155" cy="320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40"/>
              </a:lnSpc>
              <a:spcAft>
                <a:spcPts val="2800"/>
              </a:spcAft>
              <a:buNone/>
            </a:pPr>
            <a:r>
              <a:rPr lang="en-US" sz="1800" b="1" dirty="0">
                <a:solidFill>
                  <a:srgbClr val="2A9D8F"/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Vamos transformar a hospitalidade juntos?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267200" y="2696319"/>
            <a:ext cx="609600" cy="25301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445767" y="3077170"/>
            <a:ext cx="2252466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contato@zehla.com.br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660020" y="3464421"/>
            <a:ext cx="182396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>
                    <a:alpha val="85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www.zehla.com.br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023759" y="3851672"/>
            <a:ext cx="3096482" cy="267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Gill Sans MT" pitchFamily="34" charset="0"/>
                <a:ea typeface="Gill Sans MT" pitchFamily="34" charset="-122"/>
                <a:cs typeface="Gill Sans MT" pitchFamily="34" charset="-120"/>
              </a:rPr>
              <a:t>Agende uma demonstracao gratuita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0" y="5092750"/>
            <a:ext cx="9144000" cy="5075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ZEHLA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ZEHLA SmartHotel - Pitch Deck</dc:title>
  <dc:subject>Pitch Deck - Cognitive Hospitality OS</dc:subject>
  <dc:creator>ZEHLA SmartHotel</dc:creator>
  <cp:lastModifiedBy>ZEHLA SmartHotel</cp:lastModifiedBy>
  <cp:revision>1</cp:revision>
  <dcterms:created xsi:type="dcterms:W3CDTF">2026-04-21T13:31:46Z</dcterms:created>
  <dcterms:modified xsi:type="dcterms:W3CDTF">2026-04-21T13:31:46Z</dcterms:modified>
</cp:coreProperties>
</file>